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5143500" cx="9144000"/>
  <p:notesSz cx="6858000" cy="9144000"/>
  <p:embeddedFontLst>
    <p:embeddedFont>
      <p:font typeface="Roboto"/>
      <p:regular r:id="rId18"/>
      <p:bold r:id="rId19"/>
      <p:italic r:id="rId20"/>
      <p:boldItalic r:id="rId21"/>
    </p:embeddedFont>
    <p:embeddedFont>
      <p:font typeface="Merriweather SemiBold"/>
      <p:regular r:id="rId22"/>
      <p:bold r:id="rId23"/>
      <p:italic r:id="rId24"/>
      <p:boldItalic r:id="rId25"/>
    </p:embeddedFont>
    <p:embeddedFont>
      <p:font typeface="Merriweather"/>
      <p:regular r:id="rId26"/>
      <p:bold r:id="rId27"/>
      <p:italic r:id="rId28"/>
      <p:boldItalic r:id="rId2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-italic.fntdata"/><Relationship Id="rId22" Type="http://schemas.openxmlformats.org/officeDocument/2006/relationships/font" Target="fonts/MerriweatherSemiBold-regular.fntdata"/><Relationship Id="rId21" Type="http://schemas.openxmlformats.org/officeDocument/2006/relationships/font" Target="fonts/Roboto-boldItalic.fntdata"/><Relationship Id="rId24" Type="http://schemas.openxmlformats.org/officeDocument/2006/relationships/font" Target="fonts/MerriweatherSemiBold-italic.fntdata"/><Relationship Id="rId23" Type="http://schemas.openxmlformats.org/officeDocument/2006/relationships/font" Target="fonts/MerriweatherSemiBold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Merriweather-regular.fntdata"/><Relationship Id="rId25" Type="http://schemas.openxmlformats.org/officeDocument/2006/relationships/font" Target="fonts/MerriweatherSemiBold-boldItalic.fntdata"/><Relationship Id="rId28" Type="http://schemas.openxmlformats.org/officeDocument/2006/relationships/font" Target="fonts/Merriweather-italic.fntdata"/><Relationship Id="rId27" Type="http://schemas.openxmlformats.org/officeDocument/2006/relationships/font" Target="fonts/Merriweather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Merriweather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font" Target="fonts/Roboto-bold.fntdata"/><Relationship Id="rId18" Type="http://schemas.openxmlformats.org/officeDocument/2006/relationships/font" Target="fonts/Roboto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d1496f70e1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d1496f70e1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d1496f70e1_0_5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d1496f70e1_0_5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d1496f70e1_0_5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d1496f70e1_0_5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d1496f70e1_0_6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3d1496f70e1_0_6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d1496f70e1_0_7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3d1496f70e1_0_7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d1496f70e1_0_7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3d1496f70e1_0_7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d1496f70e1_0_7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3d1496f70e1_0_7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d1496f70e1_0_7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3d1496f70e1_0_7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d1496f70e1_0_7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3d1496f70e1_0_7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d1496f70e1_0_7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3d1496f70e1_0_7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d1496f70e1_0_7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3d1496f70e1_0_7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-125" y="0"/>
            <a:ext cx="9144250" cy="4398100"/>
          </a:xfrm>
          <a:custGeom>
            <a:rect b="b" l="l" r="r" t="t"/>
            <a:pathLst>
              <a:path extrusionOk="0" h="175924" w="365770">
                <a:moveTo>
                  <a:pt x="0" y="0"/>
                </a:moveTo>
                <a:lnTo>
                  <a:pt x="365770" y="0"/>
                </a:lnTo>
                <a:lnTo>
                  <a:pt x="365760" y="70914"/>
                </a:lnTo>
                <a:lnTo>
                  <a:pt x="0" y="175924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11" name="Google Shape;11;p2"/>
          <p:cNvSpPr txBox="1"/>
          <p:nvPr>
            <p:ph type="ctrTitle"/>
          </p:nvPr>
        </p:nvSpPr>
        <p:spPr>
          <a:xfrm>
            <a:off x="311700" y="539725"/>
            <a:ext cx="8520600" cy="128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311700" y="1878560"/>
            <a:ext cx="4242600" cy="73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accent3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/>
          <p:nvPr/>
        </p:nvSpPr>
        <p:spPr>
          <a:xfrm>
            <a:off x="0" y="48099"/>
            <a:ext cx="9144250" cy="4398100"/>
          </a:xfrm>
          <a:custGeom>
            <a:rect b="b" l="l" r="r" t="t"/>
            <a:pathLst>
              <a:path extrusionOk="0" h="175924" w="365770">
                <a:moveTo>
                  <a:pt x="0" y="0"/>
                </a:moveTo>
                <a:lnTo>
                  <a:pt x="365770" y="0"/>
                </a:lnTo>
                <a:lnTo>
                  <a:pt x="365760" y="70914"/>
                </a:lnTo>
                <a:lnTo>
                  <a:pt x="0" y="175924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16" name="Google Shape;16;p3"/>
          <p:cNvSpPr/>
          <p:nvPr/>
        </p:nvSpPr>
        <p:spPr>
          <a:xfrm>
            <a:off x="0" y="0"/>
            <a:ext cx="9144250" cy="4398100"/>
          </a:xfrm>
          <a:custGeom>
            <a:rect b="b" l="l" r="r" t="t"/>
            <a:pathLst>
              <a:path extrusionOk="0" h="175924" w="365770">
                <a:moveTo>
                  <a:pt x="0" y="0"/>
                </a:moveTo>
                <a:lnTo>
                  <a:pt x="365770" y="0"/>
                </a:lnTo>
                <a:lnTo>
                  <a:pt x="365760" y="70914"/>
                </a:lnTo>
                <a:lnTo>
                  <a:pt x="0" y="175924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</p:sp>
      <p:sp>
        <p:nvSpPr>
          <p:cNvPr id="17" name="Google Shape;17;p3"/>
          <p:cNvSpPr txBox="1"/>
          <p:nvPr>
            <p:ph type="title"/>
          </p:nvPr>
        </p:nvSpPr>
        <p:spPr>
          <a:xfrm>
            <a:off x="311700" y="539725"/>
            <a:ext cx="8520600" cy="128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8" name="Google Shape;18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/>
          <p:nvPr/>
        </p:nvSpPr>
        <p:spPr>
          <a:xfrm>
            <a:off x="0" y="0"/>
            <a:ext cx="4314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4"/>
          <p:cNvSpPr/>
          <p:nvPr/>
        </p:nvSpPr>
        <p:spPr>
          <a:xfrm>
            <a:off x="0" y="44125"/>
            <a:ext cx="4313625" cy="4399375"/>
          </a:xfrm>
          <a:custGeom>
            <a:rect b="b" l="l" r="r" t="t"/>
            <a:pathLst>
              <a:path extrusionOk="0" h="175975" w="172545">
                <a:moveTo>
                  <a:pt x="0" y="157"/>
                </a:moveTo>
                <a:lnTo>
                  <a:pt x="172419" y="0"/>
                </a:lnTo>
                <a:lnTo>
                  <a:pt x="172545" y="126541"/>
                </a:lnTo>
                <a:lnTo>
                  <a:pt x="0" y="17597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22" name="Google Shape;22;p4"/>
          <p:cNvSpPr/>
          <p:nvPr/>
        </p:nvSpPr>
        <p:spPr>
          <a:xfrm>
            <a:off x="-125" y="0"/>
            <a:ext cx="4316900" cy="4395600"/>
          </a:xfrm>
          <a:custGeom>
            <a:rect b="b" l="l" r="r" t="t"/>
            <a:pathLst>
              <a:path extrusionOk="0" h="175824" w="172676">
                <a:moveTo>
                  <a:pt x="0" y="6"/>
                </a:moveTo>
                <a:lnTo>
                  <a:pt x="172676" y="0"/>
                </a:lnTo>
                <a:lnTo>
                  <a:pt x="172562" y="126442"/>
                </a:lnTo>
                <a:lnTo>
                  <a:pt x="0" y="175824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</p:sp>
      <p:sp>
        <p:nvSpPr>
          <p:cNvPr id="23" name="Google Shape;23;p4"/>
          <p:cNvSpPr txBox="1"/>
          <p:nvPr>
            <p:ph type="title"/>
          </p:nvPr>
        </p:nvSpPr>
        <p:spPr>
          <a:xfrm>
            <a:off x="311725" y="500925"/>
            <a:ext cx="3706500" cy="250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4" name="Google Shape;24;p4"/>
          <p:cNvSpPr txBox="1"/>
          <p:nvPr>
            <p:ph idx="1" type="body"/>
          </p:nvPr>
        </p:nvSpPr>
        <p:spPr>
          <a:xfrm>
            <a:off x="4644675" y="500925"/>
            <a:ext cx="4166400" cy="409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5"/>
          <p:cNvSpPr/>
          <p:nvPr/>
        </p:nvSpPr>
        <p:spPr>
          <a:xfrm>
            <a:off x="0" y="0"/>
            <a:ext cx="9144000" cy="1277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5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311700" y="1505700"/>
            <a:ext cx="3999900" cy="307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0" name="Google Shape;30;p5"/>
          <p:cNvSpPr txBox="1"/>
          <p:nvPr>
            <p:ph idx="2" type="body"/>
          </p:nvPr>
        </p:nvSpPr>
        <p:spPr>
          <a:xfrm>
            <a:off x="4832400" y="1505700"/>
            <a:ext cx="3999900" cy="307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6"/>
          <p:cNvSpPr/>
          <p:nvPr/>
        </p:nvSpPr>
        <p:spPr>
          <a:xfrm>
            <a:off x="0" y="0"/>
            <a:ext cx="9144000" cy="1277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6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5" name="Google Shape;35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/>
          <p:nvPr/>
        </p:nvSpPr>
        <p:spPr>
          <a:xfrm>
            <a:off x="0" y="0"/>
            <a:ext cx="37644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7"/>
          <p:cNvSpPr txBox="1"/>
          <p:nvPr>
            <p:ph type="title"/>
          </p:nvPr>
        </p:nvSpPr>
        <p:spPr>
          <a:xfrm>
            <a:off x="311725" y="500925"/>
            <a:ext cx="3127500" cy="182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9" name="Google Shape;39;p7"/>
          <p:cNvSpPr txBox="1"/>
          <p:nvPr>
            <p:ph idx="1" type="body"/>
          </p:nvPr>
        </p:nvSpPr>
        <p:spPr>
          <a:xfrm>
            <a:off x="311700" y="2390650"/>
            <a:ext cx="3127500" cy="229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300"/>
              <a:buChar char="●"/>
              <a:defRPr>
                <a:solidFill>
                  <a:schemeClr val="accent2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40" name="Google Shape;40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8"/>
          <p:cNvSpPr txBox="1"/>
          <p:nvPr>
            <p:ph type="title"/>
          </p:nvPr>
        </p:nvSpPr>
        <p:spPr>
          <a:xfrm>
            <a:off x="311675" y="798600"/>
            <a:ext cx="6247800" cy="3546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43" name="Google Shape;43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9"/>
          <p:cNvSpPr txBox="1"/>
          <p:nvPr>
            <p:ph type="title"/>
          </p:nvPr>
        </p:nvSpPr>
        <p:spPr>
          <a:xfrm>
            <a:off x="311300" y="500925"/>
            <a:ext cx="3704400" cy="204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9"/>
          <p:cNvSpPr txBox="1"/>
          <p:nvPr>
            <p:ph idx="1" type="subTitle"/>
          </p:nvPr>
        </p:nvSpPr>
        <p:spPr>
          <a:xfrm>
            <a:off x="304800" y="2626725"/>
            <a:ext cx="3704400" cy="92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48" name="Google Shape;48;p9"/>
          <p:cNvSpPr txBox="1"/>
          <p:nvPr>
            <p:ph idx="2" type="body"/>
          </p:nvPr>
        </p:nvSpPr>
        <p:spPr>
          <a:xfrm>
            <a:off x="4879025" y="500925"/>
            <a:ext cx="3954000" cy="411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9" name="Google Shape;49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0"/>
          <p:cNvSpPr/>
          <p:nvPr/>
        </p:nvSpPr>
        <p:spPr>
          <a:xfrm>
            <a:off x="0" y="4369000"/>
            <a:ext cx="9144000" cy="7743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10"/>
          <p:cNvSpPr txBox="1"/>
          <p:nvPr>
            <p:ph idx="1" type="body"/>
          </p:nvPr>
        </p:nvSpPr>
        <p:spPr>
          <a:xfrm>
            <a:off x="311700" y="4521400"/>
            <a:ext cx="7979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Merriweather"/>
              <a:buNone/>
              <a:defRPr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</a:lstStyle>
          <a:p/>
        </p:txBody>
      </p:sp>
      <p:sp>
        <p:nvSpPr>
          <p:cNvPr id="53" name="Google Shape;5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1"/>
          <p:cNvSpPr txBox="1"/>
          <p:nvPr>
            <p:ph hasCustomPrompt="1" type="title"/>
          </p:nvPr>
        </p:nvSpPr>
        <p:spPr>
          <a:xfrm>
            <a:off x="311750" y="831175"/>
            <a:ext cx="5334900" cy="1244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6" name="Google Shape;56;p11"/>
          <p:cNvSpPr txBox="1"/>
          <p:nvPr>
            <p:ph idx="1" type="body"/>
          </p:nvPr>
        </p:nvSpPr>
        <p:spPr>
          <a:xfrm>
            <a:off x="311700" y="2121425"/>
            <a:ext cx="5334900" cy="94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300"/>
              <a:buChar char="●"/>
              <a:defRPr>
                <a:solidFill>
                  <a:schemeClr val="accent2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57" name="Google Shape;5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paradigm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■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●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■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●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■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3.png"/><Relationship Id="rId4" Type="http://schemas.openxmlformats.org/officeDocument/2006/relationships/image" Target="../media/image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5.png"/><Relationship Id="rId4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Relationship Id="rId4" Type="http://schemas.openxmlformats.org/officeDocument/2006/relationships/image" Target="../media/image9.png"/><Relationship Id="rId5" Type="http://schemas.openxmlformats.org/officeDocument/2006/relationships/image" Target="../media/image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Relationship Id="rId4" Type="http://schemas.openxmlformats.org/officeDocument/2006/relationships/image" Target="../media/image10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2.png"/><Relationship Id="rId4" Type="http://schemas.openxmlformats.org/officeDocument/2006/relationships/image" Target="../media/image5.png"/><Relationship Id="rId5" Type="http://schemas.openxmlformats.org/officeDocument/2006/relationships/image" Target="../media/image1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4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3"/>
          <p:cNvSpPr txBox="1"/>
          <p:nvPr>
            <p:ph idx="1" type="subTitle"/>
          </p:nvPr>
        </p:nvSpPr>
        <p:spPr>
          <a:xfrm>
            <a:off x="6514325" y="2470750"/>
            <a:ext cx="2173800" cy="412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Roboto"/>
                <a:ea typeface="Roboto"/>
                <a:cs typeface="Roboto"/>
                <a:sym typeface="Roboto"/>
              </a:rPr>
              <a:t>:- By Dhruv Sikarwar</a:t>
            </a:r>
            <a:endParaRPr sz="1600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65" name="Google Shape;65;p13" title="download (1).jfif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13"/>
          <p:cNvSpPr/>
          <p:nvPr/>
        </p:nvSpPr>
        <p:spPr>
          <a:xfrm>
            <a:off x="3377875" y="1158850"/>
            <a:ext cx="4458600" cy="7431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00">
                <a:solidFill>
                  <a:schemeClr val="dk1"/>
                </a:solidFill>
                <a:latin typeface="Merriweather SemiBold"/>
                <a:ea typeface="Merriweather SemiBold"/>
                <a:cs typeface="Merriweather SemiBold"/>
                <a:sym typeface="Merriweather SemiBold"/>
              </a:rPr>
              <a:t>Video Games Sales &amp; Engagement Analysis Project</a:t>
            </a:r>
            <a:endParaRPr sz="1700">
              <a:solidFill>
                <a:schemeClr val="dk1"/>
              </a:solidFill>
              <a:latin typeface="Merriweather SemiBold"/>
              <a:ea typeface="Merriweather SemiBold"/>
              <a:cs typeface="Merriweather SemiBold"/>
              <a:sym typeface="Merriweather SemiBol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67" name="Google Shape;67;p13"/>
          <p:cNvSpPr/>
          <p:nvPr/>
        </p:nvSpPr>
        <p:spPr>
          <a:xfrm>
            <a:off x="6631025" y="2391150"/>
            <a:ext cx="1940400" cy="3612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:- By Dhruv Sikarwar</a:t>
            </a: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4"/>
          <p:cNvSpPr/>
          <p:nvPr/>
        </p:nvSpPr>
        <p:spPr>
          <a:xfrm>
            <a:off x="383925" y="1056825"/>
            <a:ext cx="2456400" cy="815400"/>
          </a:xfrm>
          <a:prstGeom prst="roundRect">
            <a:avLst>
              <a:gd fmla="val 16667" name="adj"/>
            </a:avLst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Merriweather SemiBold"/>
                <a:ea typeface="Merriweather SemiBold"/>
                <a:cs typeface="Merriweather SemiBold"/>
                <a:sym typeface="Merriweather SemiBold"/>
              </a:rPr>
              <a:t>AGENDA</a:t>
            </a:r>
            <a:endParaRPr>
              <a:latin typeface="Merriweather SemiBold"/>
              <a:ea typeface="Merriweather SemiBold"/>
              <a:cs typeface="Merriweather SemiBold"/>
              <a:sym typeface="Merriweather SemiBold"/>
            </a:endParaRPr>
          </a:p>
        </p:txBody>
      </p:sp>
      <p:cxnSp>
        <p:nvCxnSpPr>
          <p:cNvPr id="73" name="Google Shape;73;p14"/>
          <p:cNvCxnSpPr/>
          <p:nvPr/>
        </p:nvCxnSpPr>
        <p:spPr>
          <a:xfrm flipH="1">
            <a:off x="1075800" y="1140675"/>
            <a:ext cx="4800" cy="6477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4" name="Google Shape;74;p14"/>
          <p:cNvSpPr txBox="1"/>
          <p:nvPr/>
        </p:nvSpPr>
        <p:spPr>
          <a:xfrm>
            <a:off x="4336700" y="788500"/>
            <a:ext cx="4200600" cy="395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65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Font typeface="Merriweather"/>
              <a:buChar char="●"/>
            </a:pPr>
            <a:r>
              <a:rPr lang="en-GB" sz="1700">
                <a:solidFill>
                  <a:schemeClr val="dk2"/>
                </a:solidFill>
                <a:latin typeface="Merriweather"/>
                <a:ea typeface="Merriweather"/>
                <a:cs typeface="Merriweather"/>
                <a:sym typeface="Merriweather"/>
              </a:rPr>
              <a:t>Problem</a:t>
            </a:r>
            <a:endParaRPr sz="1700">
              <a:solidFill>
                <a:schemeClr val="dk2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-3365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Font typeface="Merriweather"/>
              <a:buChar char="●"/>
            </a:pPr>
            <a:r>
              <a:rPr lang="en-GB" sz="1700">
                <a:solidFill>
                  <a:schemeClr val="dk2"/>
                </a:solidFill>
                <a:latin typeface="Merriweather"/>
                <a:ea typeface="Merriweather"/>
                <a:cs typeface="Merriweather"/>
                <a:sym typeface="Merriweather"/>
              </a:rPr>
              <a:t>Goal</a:t>
            </a:r>
            <a:endParaRPr sz="1700">
              <a:solidFill>
                <a:schemeClr val="dk2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-3365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Font typeface="Merriweather"/>
              <a:buChar char="●"/>
            </a:pPr>
            <a:r>
              <a:rPr lang="en-GB" sz="1700">
                <a:solidFill>
                  <a:schemeClr val="dk2"/>
                </a:solidFill>
                <a:latin typeface="Merriweather"/>
                <a:ea typeface="Merriweather"/>
                <a:cs typeface="Merriweather"/>
                <a:sym typeface="Merriweather"/>
              </a:rPr>
              <a:t>Data</a:t>
            </a:r>
            <a:endParaRPr sz="1700">
              <a:solidFill>
                <a:schemeClr val="dk2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-3365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Font typeface="Merriweather"/>
              <a:buChar char="●"/>
            </a:pPr>
            <a:r>
              <a:rPr lang="en-GB" sz="1700">
                <a:solidFill>
                  <a:schemeClr val="dk2"/>
                </a:solidFill>
                <a:latin typeface="Merriweather"/>
                <a:ea typeface="Merriweather"/>
                <a:cs typeface="Merriweather"/>
                <a:sym typeface="Merriweather"/>
              </a:rPr>
              <a:t>Insights</a:t>
            </a:r>
            <a:endParaRPr sz="1700">
              <a:solidFill>
                <a:schemeClr val="dk2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-3365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Font typeface="Merriweather"/>
              <a:buChar char="●"/>
            </a:pPr>
            <a:r>
              <a:rPr lang="en-GB" sz="1700">
                <a:solidFill>
                  <a:schemeClr val="dk2"/>
                </a:solidFill>
                <a:latin typeface="Merriweather"/>
                <a:ea typeface="Merriweather"/>
                <a:cs typeface="Merriweather"/>
                <a:sym typeface="Merriweather"/>
              </a:rPr>
              <a:t>Recommendation</a:t>
            </a:r>
            <a:endParaRPr sz="1700">
              <a:solidFill>
                <a:schemeClr val="dk2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5"/>
          <p:cNvSpPr/>
          <p:nvPr/>
        </p:nvSpPr>
        <p:spPr>
          <a:xfrm>
            <a:off x="482450" y="653475"/>
            <a:ext cx="3356100" cy="1395300"/>
          </a:xfrm>
          <a:prstGeom prst="wedgeRoundRectCallout">
            <a:avLst>
              <a:gd fmla="val -20833" name="adj1"/>
              <a:gd fmla="val 62500" name="adj2"/>
              <a:gd fmla="val 0" name="adj3"/>
            </a:avLst>
          </a:prstGeom>
          <a:solidFill>
            <a:srgbClr val="D9D9D9"/>
          </a:solidFill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rgbClr val="31394D"/>
                </a:solidFill>
                <a:latin typeface="Georgia"/>
                <a:ea typeface="Georgia"/>
                <a:cs typeface="Georgia"/>
                <a:sym typeface="Georgia"/>
              </a:rPr>
              <a:t>PROBLEM STATEMENT</a:t>
            </a:r>
            <a:endParaRPr b="1" sz="1600">
              <a:solidFill>
                <a:srgbClr val="31394D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cxnSp>
        <p:nvCxnSpPr>
          <p:cNvPr id="80" name="Google Shape;80;p15"/>
          <p:cNvCxnSpPr/>
          <p:nvPr/>
        </p:nvCxnSpPr>
        <p:spPr>
          <a:xfrm>
            <a:off x="804775" y="832450"/>
            <a:ext cx="0" cy="934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1" name="Google Shape;81;p15"/>
          <p:cNvSpPr/>
          <p:nvPr/>
        </p:nvSpPr>
        <p:spPr>
          <a:xfrm>
            <a:off x="2862375" y="2691700"/>
            <a:ext cx="5904600" cy="2075700"/>
          </a:xfrm>
          <a:prstGeom prst="roundRect">
            <a:avLst>
              <a:gd fmla="val 16667" name="adj"/>
            </a:avLst>
          </a:prstGeom>
          <a:solidFill>
            <a:srgbClr val="D9D9D9"/>
          </a:solidFill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 sz="1500">
                <a:latin typeface="Roboto"/>
                <a:ea typeface="Roboto"/>
                <a:cs typeface="Roboto"/>
                <a:sym typeface="Roboto"/>
              </a:rPr>
              <a:t>Analyze and visualize video game sales and engagement data to uncover trends in game popularity, user behavior, and platform performance by merging sales and engagement data.</a:t>
            </a:r>
            <a:endParaRPr sz="1900">
              <a:solidFill>
                <a:srgbClr val="31394D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83025" y="293350"/>
            <a:ext cx="87492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Georgia"/>
                <a:ea typeface="Georgia"/>
                <a:cs typeface="Georgia"/>
                <a:sym typeface="Georgia"/>
              </a:rPr>
              <a:t>GOALS</a:t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cxnSp>
        <p:nvCxnSpPr>
          <p:cNvPr id="87" name="Google Shape;87;p16"/>
          <p:cNvCxnSpPr/>
          <p:nvPr/>
        </p:nvCxnSpPr>
        <p:spPr>
          <a:xfrm>
            <a:off x="521275" y="138100"/>
            <a:ext cx="0" cy="9342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8" name="Google Shape;88;p16"/>
          <p:cNvSpPr txBox="1"/>
          <p:nvPr/>
        </p:nvSpPr>
        <p:spPr>
          <a:xfrm>
            <a:off x="152225" y="1457700"/>
            <a:ext cx="8749200" cy="170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2"/>
                </a:solidFill>
                <a:latin typeface="Merriweather"/>
                <a:ea typeface="Merriweather"/>
                <a:cs typeface="Merriweather"/>
                <a:sym typeface="Merriweather"/>
              </a:rPr>
              <a:t>Goal 1: </a:t>
            </a:r>
            <a:r>
              <a:rPr lang="en-GB" sz="1800">
                <a:solidFill>
                  <a:schemeClr val="dk2"/>
                </a:solidFill>
                <a:latin typeface="Georgia"/>
                <a:ea typeface="Georgia"/>
                <a:cs typeface="Georgia"/>
                <a:sym typeface="Georgia"/>
              </a:rPr>
              <a:t>Data Cleaning &amp; Standardization to ensure accurate analysis.</a:t>
            </a:r>
            <a:endParaRPr sz="1800">
              <a:solidFill>
                <a:schemeClr val="dk2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2"/>
                </a:solidFill>
                <a:latin typeface="Merriweather"/>
                <a:ea typeface="Merriweather"/>
                <a:cs typeface="Merriweather"/>
                <a:sym typeface="Merriweather"/>
              </a:rPr>
              <a:t>Goal 2 :</a:t>
            </a:r>
            <a:r>
              <a:rPr lang="en-GB" sz="1800">
                <a:solidFill>
                  <a:schemeClr val="dk2"/>
                </a:solidFill>
                <a:latin typeface="Georgia"/>
                <a:ea typeface="Georgia"/>
                <a:cs typeface="Georgia"/>
                <a:sym typeface="Georgia"/>
              </a:rPr>
              <a:t> Design Structured Sql tables to store data.</a:t>
            </a:r>
            <a:endParaRPr sz="1800">
              <a:solidFill>
                <a:schemeClr val="dk2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2"/>
                </a:solidFill>
                <a:latin typeface="Merriweather"/>
                <a:ea typeface="Merriweather"/>
                <a:cs typeface="Merriweather"/>
                <a:sym typeface="Merriweather"/>
              </a:rPr>
              <a:t>Goal 3: </a:t>
            </a:r>
            <a:r>
              <a:rPr lang="en-GB" sz="1800">
                <a:solidFill>
                  <a:schemeClr val="dk2"/>
                </a:solidFill>
                <a:latin typeface="Georgia"/>
                <a:ea typeface="Georgia"/>
                <a:cs typeface="Georgia"/>
                <a:sym typeface="Georgia"/>
              </a:rPr>
              <a:t>Develop data-driven recommendations for upcoming </a:t>
            </a:r>
            <a:r>
              <a:rPr b="1" lang="en-GB" sz="1800">
                <a:solidFill>
                  <a:schemeClr val="dk2"/>
                </a:solidFill>
                <a:latin typeface="Georgia"/>
                <a:ea typeface="Georgia"/>
                <a:cs typeface="Georgia"/>
                <a:sym typeface="Georgia"/>
              </a:rPr>
              <a:t>Genre &amp; Platform</a:t>
            </a:r>
            <a:r>
              <a:rPr lang="en-GB" sz="1800">
                <a:solidFill>
                  <a:schemeClr val="dk2"/>
                </a:solidFill>
                <a:latin typeface="Georgia"/>
                <a:ea typeface="Georgia"/>
                <a:cs typeface="Georgia"/>
                <a:sym typeface="Georgia"/>
              </a:rPr>
              <a:t> selection.</a:t>
            </a:r>
            <a:endParaRPr sz="1800">
              <a:solidFill>
                <a:schemeClr val="dk2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2"/>
                </a:solidFill>
                <a:latin typeface="Merriweather"/>
                <a:ea typeface="Merriweather"/>
                <a:cs typeface="Merriweather"/>
                <a:sym typeface="Merriweather"/>
              </a:rPr>
              <a:t>Goal 4:</a:t>
            </a:r>
            <a:r>
              <a:rPr lang="en-GB" sz="1800">
                <a:solidFill>
                  <a:schemeClr val="dk2"/>
                </a:solidFill>
                <a:latin typeface="Georgia"/>
                <a:ea typeface="Georgia"/>
                <a:cs typeface="Georgia"/>
                <a:sym typeface="Georgia"/>
              </a:rPr>
              <a:t> Design a user friendly  dynamic Dashboard.</a:t>
            </a:r>
            <a:endParaRPr sz="1800">
              <a:solidFill>
                <a:schemeClr val="dk2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89" name="Google Shape;89;p16"/>
          <p:cNvSpPr txBox="1"/>
          <p:nvPr/>
        </p:nvSpPr>
        <p:spPr>
          <a:xfrm>
            <a:off x="190625" y="3547700"/>
            <a:ext cx="8672400" cy="149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 u="sng">
                <a:solidFill>
                  <a:schemeClr val="dk2"/>
                </a:solidFill>
                <a:latin typeface="Merriweather SemiBold"/>
                <a:ea typeface="Merriweather SemiBold"/>
                <a:cs typeface="Merriweather SemiBold"/>
                <a:sym typeface="Merriweather SemiBold"/>
              </a:rPr>
              <a:t>Main Question:-</a:t>
            </a:r>
            <a:endParaRPr sz="1300" u="sng">
              <a:solidFill>
                <a:schemeClr val="dk2"/>
              </a:solidFill>
              <a:latin typeface="Merriweather SemiBold"/>
              <a:ea typeface="Merriweather SemiBold"/>
              <a:cs typeface="Merriweather SemiBold"/>
              <a:sym typeface="Merriweather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 u="sng">
              <a:solidFill>
                <a:schemeClr val="dk2"/>
              </a:solidFill>
              <a:latin typeface="Merriweather SemiBold"/>
              <a:ea typeface="Merriweather SemiBold"/>
              <a:cs typeface="Merriweather SemiBold"/>
              <a:sym typeface="Merriweather SemiBold"/>
            </a:endParaRPr>
          </a:p>
          <a:p>
            <a:pPr indent="-3111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Merriweather SemiBold"/>
              <a:buChar char="●"/>
            </a:pPr>
            <a:r>
              <a:rPr lang="en-GB" sz="1300">
                <a:solidFill>
                  <a:schemeClr val="dk2"/>
                </a:solidFill>
                <a:latin typeface="Merriweather SemiBold"/>
                <a:ea typeface="Merriweather SemiBold"/>
                <a:cs typeface="Merriweather SemiBold"/>
                <a:sym typeface="Merriweather SemiBold"/>
              </a:rPr>
              <a:t>Does higher rating leads to higher Revenue Collection ?</a:t>
            </a:r>
            <a:endParaRPr sz="1300">
              <a:solidFill>
                <a:schemeClr val="dk2"/>
              </a:solidFill>
              <a:latin typeface="Merriweather SemiBold"/>
              <a:ea typeface="Merriweather SemiBold"/>
              <a:cs typeface="Merriweather SemiBold"/>
              <a:sym typeface="Merriweather SemiBold"/>
            </a:endParaRPr>
          </a:p>
          <a:p>
            <a:pPr indent="-3111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Merriweather SemiBold"/>
              <a:buChar char="●"/>
            </a:pPr>
            <a:r>
              <a:rPr lang="en-GB" sz="1300">
                <a:solidFill>
                  <a:schemeClr val="dk2"/>
                </a:solidFill>
                <a:latin typeface="Merriweather SemiBold"/>
                <a:ea typeface="Merriweather SemiBold"/>
                <a:cs typeface="Merriweather SemiBold"/>
                <a:sym typeface="Merriweather SemiBold"/>
              </a:rPr>
              <a:t>Which Genre has collected highest Revenue </a:t>
            </a:r>
            <a:r>
              <a:rPr lang="en-GB" sz="1300">
                <a:solidFill>
                  <a:schemeClr val="dk2"/>
                </a:solidFill>
                <a:latin typeface="Georgia"/>
                <a:ea typeface="Georgia"/>
                <a:cs typeface="Georgia"/>
                <a:sym typeface="Georgia"/>
              </a:rPr>
              <a:t> ?</a:t>
            </a:r>
            <a:endParaRPr sz="1300">
              <a:solidFill>
                <a:schemeClr val="dk2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111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Merriweather SemiBold"/>
              <a:buChar char="●"/>
            </a:pPr>
            <a:r>
              <a:rPr lang="en-GB" sz="1300">
                <a:solidFill>
                  <a:schemeClr val="dk2"/>
                </a:solidFill>
                <a:latin typeface="Merriweather SemiBold"/>
                <a:ea typeface="Merriweather SemiBold"/>
                <a:cs typeface="Merriweather SemiBold"/>
                <a:sym typeface="Merriweather SemiBold"/>
              </a:rPr>
              <a:t>Which Region has produced higher Revenue ?</a:t>
            </a:r>
            <a:endParaRPr sz="1300">
              <a:solidFill>
                <a:schemeClr val="dk2"/>
              </a:solidFill>
              <a:latin typeface="Merriweather SemiBold"/>
              <a:ea typeface="Merriweather SemiBold"/>
              <a:cs typeface="Merriweather SemiBold"/>
              <a:sym typeface="Merriweather SemiBold"/>
            </a:endParaRPr>
          </a:p>
          <a:p>
            <a:pPr indent="-3111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Merriweather SemiBold"/>
              <a:buChar char="●"/>
            </a:pPr>
            <a:r>
              <a:rPr lang="en-GB" sz="1300">
                <a:solidFill>
                  <a:schemeClr val="dk2"/>
                </a:solidFill>
                <a:latin typeface="Merriweather SemiBold"/>
                <a:ea typeface="Merriweather SemiBold"/>
                <a:cs typeface="Merriweather SemiBold"/>
                <a:sym typeface="Merriweather SemiBold"/>
              </a:rPr>
              <a:t>Is there a relationship between Ratings and Sales ?</a:t>
            </a:r>
            <a:endParaRPr sz="1300">
              <a:solidFill>
                <a:schemeClr val="dk2"/>
              </a:solidFill>
              <a:latin typeface="Merriweather SemiBold"/>
              <a:ea typeface="Merriweather SemiBold"/>
              <a:cs typeface="Merriweather SemiBold"/>
              <a:sym typeface="Merriweather SemiBold"/>
            </a:endParaRPr>
          </a:p>
        </p:txBody>
      </p:sp>
      <p:cxnSp>
        <p:nvCxnSpPr>
          <p:cNvPr id="90" name="Google Shape;90;p16"/>
          <p:cNvCxnSpPr/>
          <p:nvPr/>
        </p:nvCxnSpPr>
        <p:spPr>
          <a:xfrm>
            <a:off x="-5250" y="3451200"/>
            <a:ext cx="9154500" cy="20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7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Data : Overview</a:t>
            </a:r>
            <a:endParaRPr/>
          </a:p>
        </p:txBody>
      </p:sp>
      <p:pic>
        <p:nvPicPr>
          <p:cNvPr id="96" name="Google Shape;96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05350" y="1554975"/>
            <a:ext cx="2218900" cy="3588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17" title="Screenshot (103).png"/>
          <p:cNvPicPr preferRelativeResize="0"/>
          <p:nvPr/>
        </p:nvPicPr>
        <p:blipFill rotWithShape="1">
          <a:blip r:embed="rId4">
            <a:alphaModFix/>
          </a:blip>
          <a:srcRect b="4187" l="0" r="0" t="0"/>
          <a:stretch/>
        </p:blipFill>
        <p:spPr>
          <a:xfrm>
            <a:off x="0" y="1554975"/>
            <a:ext cx="2900050" cy="3588525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7"/>
          <p:cNvSpPr/>
          <p:nvPr/>
        </p:nvSpPr>
        <p:spPr>
          <a:xfrm>
            <a:off x="363250" y="1283850"/>
            <a:ext cx="1826700" cy="229800"/>
          </a:xfrm>
          <a:prstGeom prst="roundRect">
            <a:avLst>
              <a:gd fmla="val 16667" name="adj"/>
            </a:avLst>
          </a:prstGeom>
          <a:solidFill>
            <a:schemeClr val="dk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Game Meta </a:t>
            </a: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9" name="Google Shape;99;p17"/>
          <p:cNvSpPr/>
          <p:nvPr/>
        </p:nvSpPr>
        <p:spPr>
          <a:xfrm>
            <a:off x="3201450" y="1283850"/>
            <a:ext cx="1826700" cy="229800"/>
          </a:xfrm>
          <a:prstGeom prst="roundRect">
            <a:avLst>
              <a:gd fmla="val 16667" name="adj"/>
            </a:avLst>
          </a:prstGeom>
          <a:solidFill>
            <a:schemeClr val="dk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Game Sales</a:t>
            </a: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0" name="Google Shape;100;p17"/>
          <p:cNvSpPr txBox="1"/>
          <p:nvPr/>
        </p:nvSpPr>
        <p:spPr>
          <a:xfrm>
            <a:off x="5399700" y="1400150"/>
            <a:ext cx="3672000" cy="3588600"/>
          </a:xfrm>
          <a:prstGeom prst="rect">
            <a:avLst/>
          </a:prstGeom>
          <a:noFill/>
          <a:ln cap="flat" cmpd="sng" w="9525">
            <a:solidFill>
              <a:srgbClr val="6460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</a:pPr>
            <a:r>
              <a:rPr b="1" lang="en-GB"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Data</a:t>
            </a:r>
            <a:r>
              <a:rPr lang="en-GB"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: VG Sales &amp; Engagement Data (1980 -2025).</a:t>
            </a:r>
            <a:endParaRPr sz="13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</a:pPr>
            <a:r>
              <a:rPr b="1" lang="en-GB"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Source</a:t>
            </a:r>
            <a:r>
              <a:rPr lang="en-GB"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: Kaggle</a:t>
            </a:r>
            <a:endParaRPr sz="13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</a:pPr>
            <a:r>
              <a:rPr b="1" lang="en-GB"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Size</a:t>
            </a:r>
            <a:r>
              <a:rPr lang="en-GB"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:  </a:t>
            </a:r>
            <a:endParaRPr sz="13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11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</a:pPr>
            <a:r>
              <a:rPr b="1" lang="en-GB"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Games Meta</a:t>
            </a:r>
            <a:r>
              <a:rPr lang="en-GB"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→ 1512 rows &amp; 14 columns.</a:t>
            </a:r>
            <a:endParaRPr sz="13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11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</a:pPr>
            <a:r>
              <a:rPr b="1" lang="en-GB"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Games Sales </a:t>
            </a:r>
            <a:r>
              <a:rPr lang="en-GB"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→ 16598 rows &amp; 11 columns.</a:t>
            </a:r>
            <a:endParaRPr sz="13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</a:pPr>
            <a:r>
              <a:rPr b="1" lang="en-GB"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Fields</a:t>
            </a:r>
            <a:r>
              <a:rPr lang="en-GB"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: </a:t>
            </a:r>
            <a:endParaRPr sz="13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11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</a:pPr>
            <a:r>
              <a:rPr b="1" lang="en-GB"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Games Meta</a:t>
            </a:r>
            <a:r>
              <a:rPr lang="en-GB"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b="1" lang="en-GB"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→ </a:t>
            </a:r>
            <a:r>
              <a:rPr lang="en-GB"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Team,Release_Date,Team,Rating etc.</a:t>
            </a:r>
            <a:endParaRPr sz="13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11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</a:pPr>
            <a:r>
              <a:rPr b="1" lang="en-GB"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Games Sales →</a:t>
            </a:r>
            <a:r>
              <a:rPr lang="en-GB"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Name ,Platform ,Genre ,Publisher ,Region Sales etc.</a:t>
            </a:r>
            <a:endParaRPr sz="13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8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Data : Cleaning</a:t>
            </a:r>
            <a:endParaRPr/>
          </a:p>
        </p:txBody>
      </p:sp>
      <p:sp>
        <p:nvSpPr>
          <p:cNvPr id="106" name="Google Shape;106;p18"/>
          <p:cNvSpPr txBox="1"/>
          <p:nvPr/>
        </p:nvSpPr>
        <p:spPr>
          <a:xfrm>
            <a:off x="0" y="1273550"/>
            <a:ext cx="5191200" cy="374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Games Meta :- </a:t>
            </a:r>
            <a:endParaRPr b="1" sz="13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</a:pPr>
            <a:r>
              <a:rPr lang="en-GB"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Changed Data type of 7 fields </a:t>
            </a:r>
            <a:r>
              <a:rPr b="1" lang="en-GB"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(</a:t>
            </a:r>
            <a:r>
              <a:rPr b="1" lang="en-GB"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Release Date,Times Listed,Number of Reviews,Plays,Playing,Backlog</a:t>
            </a:r>
            <a:r>
              <a:rPr b="1" lang="en-GB"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,Wishlist</a:t>
            </a:r>
            <a:r>
              <a:rPr lang="en-GB"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) for accurate analysis.</a:t>
            </a:r>
            <a:endParaRPr sz="13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</a:pPr>
            <a:r>
              <a:rPr lang="en-GB"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Converted the Values of </a:t>
            </a:r>
            <a:r>
              <a:rPr b="1" lang="en-GB"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Number of Reviews,Plays,Playing,Backlog,Wishlist</a:t>
            </a:r>
            <a:r>
              <a:rPr lang="en-GB"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by replacing {K,M,comma}.</a:t>
            </a:r>
            <a:endParaRPr sz="13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</a:pPr>
            <a:r>
              <a:rPr b="1" lang="en-GB" sz="1300" u="sng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Exploded Team &amp; Genre Fields by unpivoting them.</a:t>
            </a:r>
            <a:endParaRPr b="1" sz="1300" u="sng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</a:pPr>
            <a:r>
              <a:rPr lang="en-GB"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Standardized Column names &amp; their records following by removing duplicates.</a:t>
            </a:r>
            <a:endParaRPr sz="13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</a:pPr>
            <a:r>
              <a:rPr lang="en-GB"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Replacing null values in Rating with their respective genres average rating.</a:t>
            </a:r>
            <a:endParaRPr sz="13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Games Sales :-</a:t>
            </a:r>
            <a:endParaRPr b="1" sz="13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</a:pPr>
            <a:r>
              <a:rPr lang="en-GB"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Converted Data type of Year from float to int for </a:t>
            </a:r>
            <a:r>
              <a:rPr lang="en-GB"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better calculated analysis.</a:t>
            </a:r>
            <a:endParaRPr sz="13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</a:pPr>
            <a:r>
              <a:rPr lang="en-GB"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Replaced null values from Publisher to ‘Unknown’ .</a:t>
            </a:r>
            <a:endParaRPr sz="13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07" name="Google Shape;107;p18" title="Screenshot (105).png"/>
          <p:cNvPicPr preferRelativeResize="0"/>
          <p:nvPr/>
        </p:nvPicPr>
        <p:blipFill rotWithShape="1">
          <a:blip r:embed="rId3">
            <a:alphaModFix/>
          </a:blip>
          <a:srcRect b="40727" l="18928" r="65535" t="23684"/>
          <a:stretch/>
        </p:blipFill>
        <p:spPr>
          <a:xfrm>
            <a:off x="7303425" y="1427700"/>
            <a:ext cx="1608902" cy="3591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" name="Google Shape;108;p18" title="Screenshot (106).png"/>
          <p:cNvPicPr preferRelativeResize="0"/>
          <p:nvPr/>
        </p:nvPicPr>
        <p:blipFill rotWithShape="1">
          <a:blip r:embed="rId4">
            <a:alphaModFix/>
          </a:blip>
          <a:srcRect b="26661" l="18408" r="65979" t="27387"/>
          <a:stretch/>
        </p:blipFill>
        <p:spPr>
          <a:xfrm>
            <a:off x="5234575" y="1427700"/>
            <a:ext cx="2025475" cy="3591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9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600"/>
              <a:t>Data : Structuring &amp; Modelling</a:t>
            </a:r>
            <a:endParaRPr sz="2600"/>
          </a:p>
        </p:txBody>
      </p:sp>
      <p:pic>
        <p:nvPicPr>
          <p:cNvPr id="114" name="Google Shape;114;p19" title="Screenshot (107).png"/>
          <p:cNvPicPr preferRelativeResize="0"/>
          <p:nvPr/>
        </p:nvPicPr>
        <p:blipFill rotWithShape="1">
          <a:blip r:embed="rId3">
            <a:alphaModFix/>
          </a:blip>
          <a:srcRect b="12007" l="5695" r="4899" t="25750"/>
          <a:stretch/>
        </p:blipFill>
        <p:spPr>
          <a:xfrm>
            <a:off x="0" y="1314825"/>
            <a:ext cx="6287275" cy="3828676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19"/>
          <p:cNvSpPr txBox="1"/>
          <p:nvPr/>
        </p:nvSpPr>
        <p:spPr>
          <a:xfrm>
            <a:off x="6390475" y="1397400"/>
            <a:ext cx="2652300" cy="374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</a:pPr>
            <a:r>
              <a:rPr lang="en-GB"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Created 8 SQL Tables </a:t>
            </a:r>
            <a:endParaRPr sz="13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11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</a:pPr>
            <a:r>
              <a:rPr b="1" lang="en-GB"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Fact Tables : </a:t>
            </a:r>
            <a:r>
              <a:rPr lang="en-GB"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Sales,Games.</a:t>
            </a:r>
            <a:endParaRPr sz="13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11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</a:pPr>
            <a:r>
              <a:rPr b="1" lang="en-GB"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Dimension Tables :</a:t>
            </a:r>
            <a:r>
              <a:rPr lang="en-GB"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Platforms,Publishers,Genres,Teams,etc.</a:t>
            </a:r>
            <a:endParaRPr sz="13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</a:pPr>
            <a:r>
              <a:rPr lang="en-GB"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Inserted cleaned records from Games Meta &amp; Sales Cleaned csvs.</a:t>
            </a:r>
            <a:endParaRPr sz="13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</a:pPr>
            <a:r>
              <a:rPr lang="en-GB"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Connected SQL Database to Power bi &amp; made relations between them.</a:t>
            </a:r>
            <a:endParaRPr sz="13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0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600"/>
              <a:t>Insights : Genre Term</a:t>
            </a:r>
            <a:endParaRPr sz="2600"/>
          </a:p>
        </p:txBody>
      </p:sp>
      <p:sp>
        <p:nvSpPr>
          <p:cNvPr id="121" name="Google Shape;121;p20"/>
          <p:cNvSpPr/>
          <p:nvPr/>
        </p:nvSpPr>
        <p:spPr>
          <a:xfrm>
            <a:off x="115575" y="1040200"/>
            <a:ext cx="4396500" cy="2194200"/>
          </a:xfrm>
          <a:prstGeom prst="horizontalScroll">
            <a:avLst>
              <a:gd fmla="val 12500" name="adj"/>
            </a:avLst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Adventure stands out as the most </a:t>
            </a:r>
            <a:r>
              <a:rPr lang="en-GB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successful</a:t>
            </a:r>
            <a:r>
              <a:rPr lang="en-GB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 Genre based on Sales,Regions,feedbacks,active &amp; inactive users.</a:t>
            </a: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22" name="Google Shape;122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37825" y="1344300"/>
            <a:ext cx="3591500" cy="1776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Google Shape;123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3316175"/>
            <a:ext cx="4571999" cy="1890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" name="Google Shape;124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01125" y="3234400"/>
            <a:ext cx="4247925" cy="1971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1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500"/>
              <a:t>Insights : Yearly Trend</a:t>
            </a:r>
            <a:endParaRPr sz="2500"/>
          </a:p>
        </p:txBody>
      </p:sp>
      <p:pic>
        <p:nvPicPr>
          <p:cNvPr id="130" name="Google Shape;130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479975"/>
            <a:ext cx="4829175" cy="2311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" name="Google Shape;131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133975" y="1479975"/>
            <a:ext cx="3857625" cy="2311650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21"/>
          <p:cNvSpPr/>
          <p:nvPr/>
        </p:nvSpPr>
        <p:spPr>
          <a:xfrm>
            <a:off x="466500" y="3998175"/>
            <a:ext cx="8153400" cy="1001100"/>
          </a:xfrm>
          <a:prstGeom prst="flowChartAlternateProcess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17500" lvl="0" marL="45720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Char char="❖"/>
            </a:pPr>
            <a:r>
              <a:rPr lang="en-GB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2006 -2013 was the peak time of Sales globally.</a:t>
            </a: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Char char="❖"/>
            </a:pPr>
            <a:r>
              <a:rPr lang="en-GB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After year 2022 the production of games slowed down drastically.</a:t>
            </a: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2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500"/>
              <a:t>Insights : Publisher &amp; Platform</a:t>
            </a:r>
            <a:endParaRPr sz="2500"/>
          </a:p>
        </p:txBody>
      </p:sp>
      <p:pic>
        <p:nvPicPr>
          <p:cNvPr id="138" name="Google Shape;138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15075" y="1323725"/>
            <a:ext cx="3695700" cy="1844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" name="Google Shape;139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75550" y="3299275"/>
            <a:ext cx="4419250" cy="1844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" name="Google Shape;140;p2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52750" y="3299275"/>
            <a:ext cx="4419251" cy="1844225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22"/>
          <p:cNvSpPr txBox="1"/>
          <p:nvPr/>
        </p:nvSpPr>
        <p:spPr>
          <a:xfrm>
            <a:off x="218800" y="1427650"/>
            <a:ext cx="4737300" cy="157950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</a:pPr>
            <a:r>
              <a:rPr lang="en-GB"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Publisher : </a:t>
            </a:r>
            <a:endParaRPr sz="13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</a:pPr>
            <a:r>
              <a:rPr lang="en-GB"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Nintendo (Sales) </a:t>
            </a:r>
            <a:endParaRPr sz="13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</a:pPr>
            <a:r>
              <a:rPr lang="en-GB"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Valve (Rating)</a:t>
            </a:r>
            <a:endParaRPr sz="13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</a:pPr>
            <a:r>
              <a:rPr lang="en-GB"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Platform :</a:t>
            </a:r>
            <a:endParaRPr sz="13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</a:pPr>
            <a:r>
              <a:rPr lang="en-GB"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X360 &amp; PS3 (Sales)</a:t>
            </a:r>
            <a:endParaRPr sz="13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</a:pPr>
            <a:r>
              <a:rPr lang="en-GB"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SAT (Rating)</a:t>
            </a:r>
            <a:endParaRPr sz="13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3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Recommendation</a:t>
            </a:r>
            <a:endParaRPr sz="2500"/>
          </a:p>
        </p:txBody>
      </p:sp>
      <p:sp>
        <p:nvSpPr>
          <p:cNvPr id="147" name="Google Shape;147;p23"/>
          <p:cNvSpPr/>
          <p:nvPr/>
        </p:nvSpPr>
        <p:spPr>
          <a:xfrm>
            <a:off x="311725" y="1645100"/>
            <a:ext cx="8566200" cy="3178800"/>
          </a:xfrm>
          <a:prstGeom prst="wedgeRoundRectCallout">
            <a:avLst>
              <a:gd fmla="val -20833" name="adj1"/>
              <a:gd fmla="val 62500" name="adj2"/>
              <a:gd fmla="val 0" name="adj3"/>
            </a:avLst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Char char="●"/>
            </a:pPr>
            <a:r>
              <a:rPr lang="en-GB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Company must consider those Budget games which can be </a:t>
            </a:r>
            <a:r>
              <a:rPr lang="en-GB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accessible</a:t>
            </a:r>
            <a:r>
              <a:rPr lang="en-GB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 on X360 or PS3 Platforms and focus more on Adventure Genre.</a:t>
            </a: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Char char="●"/>
            </a:pPr>
            <a:r>
              <a:rPr lang="en-GB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Adventure Genre games should make some updates by putting Strategies &amp; Puzzles in their games with a storyline making them good in rating too.</a:t>
            </a: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Char char="●"/>
            </a:pPr>
            <a:r>
              <a:rPr lang="en-GB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Advertise more in Japan and Europe as they produce less sales.</a:t>
            </a: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Paradigm">
  <a:themeElements>
    <a:clrScheme name="Paradigm">
      <a:dk1>
        <a:srgbClr val="31394D"/>
      </a:dk1>
      <a:lt1>
        <a:srgbClr val="FFFFFF"/>
      </a:lt1>
      <a:dk2>
        <a:srgbClr val="666666"/>
      </a:dk2>
      <a:lt2>
        <a:srgbClr val="626B73"/>
      </a:lt2>
      <a:accent1>
        <a:srgbClr val="002F4A"/>
      </a:accent1>
      <a:accent2>
        <a:srgbClr val="D9C4B1"/>
      </a:accent2>
      <a:accent3>
        <a:srgbClr val="EDE3DA"/>
      </a:accent3>
      <a:accent4>
        <a:srgbClr val="B85741"/>
      </a:accent4>
      <a:accent5>
        <a:srgbClr val="009384"/>
      </a:accent5>
      <a:accent6>
        <a:srgbClr val="D0F6FF"/>
      </a:accent6>
      <a:hlink>
        <a:srgbClr val="009384"/>
      </a:hlink>
      <a:folHlink>
        <a:srgbClr val="00938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